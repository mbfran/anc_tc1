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0" r:id="rId3"/>
    <p:sldId id="258" r:id="rId4"/>
    <p:sldId id="266" r:id="rId5"/>
    <p:sldId id="265" r:id="rId6"/>
    <p:sldId id="263" r:id="rId7"/>
  </p:sldIdLst>
  <p:sldSz cx="9144000" cy="5143500" type="screen16x9"/>
  <p:notesSz cx="7315200" cy="96012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C7A5"/>
    <a:srgbClr val="81C7A5"/>
    <a:srgbClr val="82C7A5"/>
    <a:srgbClr val="014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B39FF9E-0046-AD21-35D0-53779F91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8d37d3cb_0_135:notes">
            <a:extLst>
              <a:ext uri="{FF2B5EF4-FFF2-40B4-BE49-F238E27FC236}">
                <a16:creationId xmlns:a16="http://schemas.microsoft.com/office/drawing/2014/main" id="{3880C4A0-0614-3AE6-04EF-624EA7BA6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55" name="Google Shape;155;g3e48d37d3cb_0_135:notes">
            <a:extLst>
              <a:ext uri="{FF2B5EF4-FFF2-40B4-BE49-F238E27FC236}">
                <a16:creationId xmlns:a16="http://schemas.microsoft.com/office/drawing/2014/main" id="{8AAD6121-D2F8-76E4-B6EA-4E0BF7B02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096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48d37d3cb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48" name="Google Shape;148;g3e48d37d3cb_0_13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88D4C3E6-B772-77DC-285A-A7F4ECBD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48d37d3cb_0_130:notes">
            <a:extLst>
              <a:ext uri="{FF2B5EF4-FFF2-40B4-BE49-F238E27FC236}">
                <a16:creationId xmlns:a16="http://schemas.microsoft.com/office/drawing/2014/main" id="{AB85AF71-AD1A-15BE-AD12-A7E80B607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AR"/>
          </a:p>
        </p:txBody>
      </p:sp>
      <p:sp>
        <p:nvSpPr>
          <p:cNvPr id="148" name="Google Shape;148;g3e48d37d3cb_0_130:notes">
            <a:extLst>
              <a:ext uri="{FF2B5EF4-FFF2-40B4-BE49-F238E27FC236}">
                <a16:creationId xmlns:a16="http://schemas.microsoft.com/office/drawing/2014/main" id="{F01B54FF-C4CE-F786-797A-52F7650E6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723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EBC0D4F-17AD-EBDA-CA26-89A65A63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0990"/>
          </a:xfrm>
          <a:prstGeom prst="rect">
            <a:avLst/>
          </a:prstGeom>
        </p:spPr>
      </p:pic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261758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Sistema de control 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695897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Martinez Borgani, Francisco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Milazzo, Tobias</a:t>
            </a:r>
            <a:endParaRPr dirty="0"/>
          </a:p>
        </p:txBody>
      </p:sp>
      <p:sp>
        <p:nvSpPr>
          <p:cNvPr id="136" name="Google Shape;136;p13"/>
          <p:cNvSpPr txBox="1"/>
          <p:nvPr/>
        </p:nvSpPr>
        <p:spPr>
          <a:xfrm>
            <a:off x="3539531" y="1866667"/>
            <a:ext cx="101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4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3903597" y="1866197"/>
            <a:ext cx="101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endParaRPr sz="4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4314701" y="1865727"/>
            <a:ext cx="101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4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DB5982-1B5C-82E2-48FB-AEF4E9027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759" y="-133200"/>
            <a:ext cx="3084740" cy="3096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2DED41F-3925-9F56-F3E4-03677C074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8100" y="-131579"/>
            <a:ext cx="3104428" cy="3115759"/>
          </a:xfrm>
          <a:prstGeom prst="rect">
            <a:avLst/>
          </a:prstGeom>
        </p:spPr>
      </p:pic>
      <p:sp>
        <p:nvSpPr>
          <p:cNvPr id="2" name="Google Shape;135;p13">
            <a:extLst>
              <a:ext uri="{FF2B5EF4-FFF2-40B4-BE49-F238E27FC236}">
                <a16:creationId xmlns:a16="http://schemas.microsoft.com/office/drawing/2014/main" id="{232270E8-1298-1512-B80D-50E0E4267FFF}"/>
              </a:ext>
            </a:extLst>
          </p:cNvPr>
          <p:cNvSpPr txBox="1">
            <a:spLocks/>
          </p:cNvSpPr>
          <p:nvPr/>
        </p:nvSpPr>
        <p:spPr>
          <a:xfrm>
            <a:off x="5083950" y="4096293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it-IT" dirty="0"/>
              <a:t>Teoria de circuitos I – R3051</a:t>
            </a:r>
          </a:p>
        </p:txBody>
      </p:sp>
      <p:sp>
        <p:nvSpPr>
          <p:cNvPr id="5" name="Google Shape;134;p13">
            <a:extLst>
              <a:ext uri="{FF2B5EF4-FFF2-40B4-BE49-F238E27FC236}">
                <a16:creationId xmlns:a16="http://schemas.microsoft.com/office/drawing/2014/main" id="{174DCBA3-65A8-3F6E-4B86-FA646BD63A6E}"/>
              </a:ext>
            </a:extLst>
          </p:cNvPr>
          <p:cNvSpPr txBox="1">
            <a:spLocks/>
          </p:cNvSpPr>
          <p:nvPr/>
        </p:nvSpPr>
        <p:spPr>
          <a:xfrm>
            <a:off x="3537150" y="2558552"/>
            <a:ext cx="5017500" cy="413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419" sz="1800" dirty="0">
                <a:solidFill>
                  <a:schemeClr val="bg1">
                    <a:lumMod val="75000"/>
                  </a:schemeClr>
                </a:solidFill>
              </a:rPr>
              <a:t>Presentación Trabajo Practico Integrador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75DA9762-41F5-D818-B5B8-1336DB96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3;p14">
            <a:extLst>
              <a:ext uri="{FF2B5EF4-FFF2-40B4-BE49-F238E27FC236}">
                <a16:creationId xmlns:a16="http://schemas.microsoft.com/office/drawing/2014/main" id="{23B511EF-0291-F9BF-254E-DAF2E54F02BB}"/>
              </a:ext>
            </a:extLst>
          </p:cNvPr>
          <p:cNvSpPr txBox="1"/>
          <p:nvPr/>
        </p:nvSpPr>
        <p:spPr>
          <a:xfrm>
            <a:off x="356059" y="1371452"/>
            <a:ext cx="10113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sz="6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144;p14">
            <a:extLst>
              <a:ext uri="{FF2B5EF4-FFF2-40B4-BE49-F238E27FC236}">
                <a16:creationId xmlns:a16="http://schemas.microsoft.com/office/drawing/2014/main" id="{E374B382-9FA3-D117-8912-B6EEE62839F4}"/>
              </a:ext>
            </a:extLst>
          </p:cNvPr>
          <p:cNvSpPr txBox="1"/>
          <p:nvPr/>
        </p:nvSpPr>
        <p:spPr>
          <a:xfrm>
            <a:off x="299614" y="2435282"/>
            <a:ext cx="10113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endParaRPr sz="4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45;p14">
            <a:extLst>
              <a:ext uri="{FF2B5EF4-FFF2-40B4-BE49-F238E27FC236}">
                <a16:creationId xmlns:a16="http://schemas.microsoft.com/office/drawing/2014/main" id="{E1D70AAB-674D-85C2-76B3-3FE69A04C9CE}"/>
              </a:ext>
            </a:extLst>
          </p:cNvPr>
          <p:cNvSpPr txBox="1"/>
          <p:nvPr/>
        </p:nvSpPr>
        <p:spPr>
          <a:xfrm>
            <a:off x="322192" y="3499112"/>
            <a:ext cx="10113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4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143;p14">
            <a:extLst>
              <a:ext uri="{FF2B5EF4-FFF2-40B4-BE49-F238E27FC236}">
                <a16:creationId xmlns:a16="http://schemas.microsoft.com/office/drawing/2014/main" id="{6E07B6C1-BBA8-6B7B-9D1F-D771A54A610B}"/>
              </a:ext>
            </a:extLst>
          </p:cNvPr>
          <p:cNvSpPr txBox="1"/>
          <p:nvPr/>
        </p:nvSpPr>
        <p:spPr>
          <a:xfrm>
            <a:off x="895575" y="1523272"/>
            <a:ext cx="6648697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CTIVE</a:t>
            </a:r>
            <a:endParaRPr sz="54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Google Shape;143;p14">
            <a:extLst>
              <a:ext uri="{FF2B5EF4-FFF2-40B4-BE49-F238E27FC236}">
                <a16:creationId xmlns:a16="http://schemas.microsoft.com/office/drawing/2014/main" id="{67F53951-FC19-CEC0-C505-EA07E97BE4E3}"/>
              </a:ext>
            </a:extLst>
          </p:cNvPr>
          <p:cNvSpPr txBox="1"/>
          <p:nvPr/>
        </p:nvSpPr>
        <p:spPr>
          <a:xfrm>
            <a:off x="901219" y="2578784"/>
            <a:ext cx="6648697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OISE</a:t>
            </a:r>
            <a:endParaRPr sz="54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143;p14">
            <a:extLst>
              <a:ext uri="{FF2B5EF4-FFF2-40B4-BE49-F238E27FC236}">
                <a16:creationId xmlns:a16="http://schemas.microsoft.com/office/drawing/2014/main" id="{26F93D9D-80B8-5709-5C0D-4C48893BFD3C}"/>
              </a:ext>
            </a:extLst>
          </p:cNvPr>
          <p:cNvSpPr txBox="1"/>
          <p:nvPr/>
        </p:nvSpPr>
        <p:spPr>
          <a:xfrm>
            <a:off x="901218" y="3619124"/>
            <a:ext cx="6648697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ANCELLATION</a:t>
            </a:r>
            <a:endParaRPr sz="54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F58ED57-D786-A6FD-C03D-E1F7389D5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13" y="330917"/>
            <a:ext cx="1094008" cy="10980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B227EA2-9644-506C-2932-808AC4D5C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331" y="327981"/>
            <a:ext cx="1094011" cy="1098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9809A35-29E1-CE3D-CE57-0504BBB70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459" y="484810"/>
            <a:ext cx="5554152" cy="3293567"/>
          </a:xfrm>
          <a:prstGeom prst="rect">
            <a:avLst/>
          </a:prstGeom>
        </p:spPr>
      </p:pic>
      <p:pic>
        <p:nvPicPr>
          <p:cNvPr id="2" name="Imagen 5" descr="AURORA™ Modular - Auriculares ANC | Hune Argentina">
            <a:extLst>
              <a:ext uri="{FF2B5EF4-FFF2-40B4-BE49-F238E27FC236}">
                <a16:creationId xmlns:a16="http://schemas.microsoft.com/office/drawing/2014/main" id="{8114680F-2169-7F34-2DAA-26AE658BE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5012" y="1425981"/>
            <a:ext cx="2448158" cy="2448158"/>
          </a:xfrm>
          <a:prstGeom prst="rect">
            <a:avLst/>
          </a:prstGeom>
        </p:spPr>
      </p:pic>
      <p:pic>
        <p:nvPicPr>
          <p:cNvPr id="3" name="Imagen 6">
            <a:extLst>
              <a:ext uri="{FF2B5EF4-FFF2-40B4-BE49-F238E27FC236}">
                <a16:creationId xmlns:a16="http://schemas.microsoft.com/office/drawing/2014/main" id="{C07740CE-5066-9651-37CD-67B7C75FA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236" y="2435282"/>
            <a:ext cx="3027556" cy="2003420"/>
          </a:xfrm>
          <a:prstGeom prst="rect">
            <a:avLst/>
          </a:prstGeom>
        </p:spPr>
      </p:pic>
      <p:sp>
        <p:nvSpPr>
          <p:cNvPr id="7" name="CuadroTexto 8">
            <a:extLst>
              <a:ext uri="{FF2B5EF4-FFF2-40B4-BE49-F238E27FC236}">
                <a16:creationId xmlns:a16="http://schemas.microsoft.com/office/drawing/2014/main" id="{DA606168-8DA7-0118-3E4E-3073A8CBF93A}"/>
              </a:ext>
            </a:extLst>
          </p:cNvPr>
          <p:cNvSpPr txBox="1"/>
          <p:nvPr/>
        </p:nvSpPr>
        <p:spPr>
          <a:xfrm>
            <a:off x="5018236" y="4438702"/>
            <a:ext cx="302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>
                <a:solidFill>
                  <a:schemeClr val="bg1"/>
                </a:solidFill>
              </a:rPr>
              <a:t>Primer prototipo hecho por la empresa BOSE utilizado por los pilotos Dick Rutan y Jeana Yeager en su viaje más largo en un Voyager</a:t>
            </a:r>
            <a:endParaRPr lang="es-AR" sz="800" dirty="0">
              <a:solidFill>
                <a:schemeClr val="bg1"/>
              </a:solidFill>
            </a:endParaRPr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8209481D-952B-B17A-172D-0C0D201C4060}"/>
              </a:ext>
            </a:extLst>
          </p:cNvPr>
          <p:cNvSpPr txBox="1"/>
          <p:nvPr/>
        </p:nvSpPr>
        <p:spPr>
          <a:xfrm>
            <a:off x="1835012" y="3881163"/>
            <a:ext cx="2441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800" dirty="0">
                <a:solidFill>
                  <a:schemeClr val="bg1"/>
                </a:solidFill>
              </a:rPr>
              <a:t>Aplicación hoy en día</a:t>
            </a:r>
          </a:p>
        </p:txBody>
      </p:sp>
      <p:pic>
        <p:nvPicPr>
          <p:cNvPr id="12" name="Imagen 10">
            <a:extLst>
              <a:ext uri="{FF2B5EF4-FFF2-40B4-BE49-F238E27FC236}">
                <a16:creationId xmlns:a16="http://schemas.microsoft.com/office/drawing/2014/main" id="{1E40E438-22DF-35A1-D34B-FD44886FC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8235" y="606282"/>
            <a:ext cx="3027556" cy="1500538"/>
          </a:xfrm>
          <a:prstGeom prst="rect">
            <a:avLst/>
          </a:prstGeom>
        </p:spPr>
      </p:pic>
      <p:sp>
        <p:nvSpPr>
          <p:cNvPr id="13" name="CuadroTexto 11">
            <a:extLst>
              <a:ext uri="{FF2B5EF4-FFF2-40B4-BE49-F238E27FC236}">
                <a16:creationId xmlns:a16="http://schemas.microsoft.com/office/drawing/2014/main" id="{FEB01CE0-A7E7-F537-50A7-8F23013289B6}"/>
              </a:ext>
            </a:extLst>
          </p:cNvPr>
          <p:cNvSpPr txBox="1"/>
          <p:nvPr/>
        </p:nvSpPr>
        <p:spPr>
          <a:xfrm>
            <a:off x="5018235" y="2106820"/>
            <a:ext cx="30275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800" dirty="0">
                <a:solidFill>
                  <a:schemeClr val="bg1"/>
                </a:solidFill>
              </a:rPr>
              <a:t>Primer prototipo comercial hecho por BOSE en los años 80’s</a:t>
            </a:r>
          </a:p>
        </p:txBody>
      </p:sp>
    </p:spTree>
    <p:extLst>
      <p:ext uri="{BB962C8B-B14F-4D97-AF65-F5344CB8AC3E}">
        <p14:creationId xmlns:p14="http://schemas.microsoft.com/office/powerpoint/2010/main" val="3095672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/>
      <p:bldP spid="10" grpId="1"/>
      <p:bldP spid="11" grpId="0"/>
      <p:bldP spid="11" grpId="1"/>
      <p:bldP spid="7" grpId="0"/>
      <p:bldP spid="9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5E4B547-539B-0E3E-A93A-C9412F3C8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331" y="327981"/>
            <a:ext cx="1094011" cy="109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FBA85AC-B43E-0957-A5F8-2BE28D927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613" y="330917"/>
            <a:ext cx="1094008" cy="109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66E9AB-FD8A-0B6A-8F76-90834FA2E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065" y="233362"/>
            <a:ext cx="4998682" cy="4676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D8D6EF-A8A1-5B3E-A947-8027072AD417}"/>
              </a:ext>
            </a:extLst>
          </p:cNvPr>
          <p:cNvSpPr txBox="1"/>
          <p:nvPr/>
        </p:nvSpPr>
        <p:spPr>
          <a:xfrm>
            <a:off x="1029873" y="965784"/>
            <a:ext cx="3502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solidFill>
                  <a:schemeClr val="bg1"/>
                </a:solidFill>
              </a:rPr>
              <a:t>Diagrama de bloques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8B291-E15C-75F8-3976-E8C1352B4DE9}"/>
              </a:ext>
            </a:extLst>
          </p:cNvPr>
          <p:cNvSpPr txBox="1"/>
          <p:nvPr/>
        </p:nvSpPr>
        <p:spPr>
          <a:xfrm>
            <a:off x="1150938" y="1599132"/>
            <a:ext cx="242245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800" dirty="0">
                <a:solidFill>
                  <a:schemeClr val="bg1"/>
                </a:solidFill>
              </a:rPr>
              <a:t>Region acústica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bg1"/>
                </a:solidFill>
              </a:rPr>
              <a:t>Camino primario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bg1"/>
                </a:solidFill>
              </a:rPr>
              <a:t>Mic. De referencia</a:t>
            </a:r>
          </a:p>
          <a:p>
            <a:pPr>
              <a:buClr>
                <a:schemeClr val="bg1"/>
              </a:buClr>
            </a:pPr>
            <a:endParaRPr lang="es-419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s-419" sz="1800" dirty="0">
                <a:solidFill>
                  <a:schemeClr val="bg1"/>
                </a:solidFill>
              </a:rPr>
              <a:t>Region Analógica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bg1"/>
                </a:solidFill>
              </a:rPr>
              <a:t>Acondicionamiento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bg1"/>
                </a:solidFill>
              </a:rPr>
              <a:t>Conversión</a:t>
            </a:r>
          </a:p>
          <a:p>
            <a:pPr>
              <a:buClr>
                <a:schemeClr val="bg1"/>
              </a:buClr>
            </a:pPr>
            <a:endParaRPr lang="es-419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r>
              <a:rPr lang="es-419" sz="1800" dirty="0">
                <a:solidFill>
                  <a:schemeClr val="bg1"/>
                </a:solidFill>
              </a:rPr>
              <a:t>Region Digital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bg1"/>
                </a:solidFill>
              </a:rPr>
              <a:t>Filtro de control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bg1"/>
                </a:solidFill>
              </a:rPr>
              <a:t>Algoritmo LMS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4CA96C-937C-C631-2E3F-F5DD67048EC8}"/>
              </a:ext>
            </a:extLst>
          </p:cNvPr>
          <p:cNvSpPr/>
          <p:nvPr/>
        </p:nvSpPr>
        <p:spPr>
          <a:xfrm>
            <a:off x="-1620838" y="-3277660"/>
            <a:ext cx="3241675" cy="3241675"/>
          </a:xfrm>
          <a:prstGeom prst="ellipse">
            <a:avLst/>
          </a:prstGeom>
          <a:solidFill>
            <a:srgbClr val="82C7A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00BEA1-CF11-D912-FA54-31E82BCE39DB}"/>
              </a:ext>
            </a:extLst>
          </p:cNvPr>
          <p:cNvSpPr/>
          <p:nvPr/>
        </p:nvSpPr>
        <p:spPr>
          <a:xfrm>
            <a:off x="7523162" y="-3277660"/>
            <a:ext cx="3241675" cy="3241675"/>
          </a:xfrm>
          <a:prstGeom prst="ellipse">
            <a:avLst/>
          </a:prstGeom>
          <a:solidFill>
            <a:srgbClr val="81C7A5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49953B-C03F-B778-A3C4-9C5E7B81A267}"/>
              </a:ext>
            </a:extLst>
          </p:cNvPr>
          <p:cNvSpPr/>
          <p:nvPr/>
        </p:nvSpPr>
        <p:spPr>
          <a:xfrm>
            <a:off x="2951162" y="5179484"/>
            <a:ext cx="3241675" cy="3241675"/>
          </a:xfrm>
          <a:prstGeom prst="ellipse">
            <a:avLst/>
          </a:prstGeom>
          <a:solidFill>
            <a:srgbClr val="83C7A5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C73A2392-22D9-BAED-C161-D5F6F447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5">
            <a:extLst>
              <a:ext uri="{FF2B5EF4-FFF2-40B4-BE49-F238E27FC236}">
                <a16:creationId xmlns:a16="http://schemas.microsoft.com/office/drawing/2014/main" id="{7EF06966-0361-9355-AD4E-2D72473B1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8622" y="-775891"/>
            <a:ext cx="1094011" cy="1098000"/>
          </a:xfrm>
          <a:prstGeom prst="rect">
            <a:avLst/>
          </a:prstGeom>
        </p:spPr>
      </p:pic>
      <p:pic>
        <p:nvPicPr>
          <p:cNvPr id="5" name="Imagen 6">
            <a:extLst>
              <a:ext uri="{FF2B5EF4-FFF2-40B4-BE49-F238E27FC236}">
                <a16:creationId xmlns:a16="http://schemas.microsoft.com/office/drawing/2014/main" id="{6894554C-977A-7EA2-170D-E8238E706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19904" y="-772955"/>
            <a:ext cx="1094008" cy="1098000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78B398B9-C96A-54BF-06CF-AE0DF067E59C}"/>
              </a:ext>
            </a:extLst>
          </p:cNvPr>
          <p:cNvSpPr/>
          <p:nvPr/>
        </p:nvSpPr>
        <p:spPr>
          <a:xfrm>
            <a:off x="2051049" y="195261"/>
            <a:ext cx="3241675" cy="3241675"/>
          </a:xfrm>
          <a:prstGeom prst="ellipse">
            <a:avLst/>
          </a:prstGeom>
          <a:solidFill>
            <a:srgbClr val="82C7A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02AAE07-91BF-FBF5-7EF0-7F3F9E355CBE}"/>
              </a:ext>
            </a:extLst>
          </p:cNvPr>
          <p:cNvSpPr/>
          <p:nvPr/>
        </p:nvSpPr>
        <p:spPr>
          <a:xfrm>
            <a:off x="3851276" y="195260"/>
            <a:ext cx="3241675" cy="3241675"/>
          </a:xfrm>
          <a:prstGeom prst="ellipse">
            <a:avLst/>
          </a:prstGeom>
          <a:solidFill>
            <a:srgbClr val="81C7A5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443E559-865D-FE6D-4484-3B7B6FA28E27}"/>
              </a:ext>
            </a:extLst>
          </p:cNvPr>
          <p:cNvSpPr/>
          <p:nvPr/>
        </p:nvSpPr>
        <p:spPr>
          <a:xfrm>
            <a:off x="2951162" y="1693860"/>
            <a:ext cx="3241675" cy="3241675"/>
          </a:xfrm>
          <a:prstGeom prst="ellipse">
            <a:avLst/>
          </a:prstGeom>
          <a:solidFill>
            <a:srgbClr val="83C7A5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138C0B-75E0-807E-1DA5-7637FC1CC48E}"/>
              </a:ext>
            </a:extLst>
          </p:cNvPr>
          <p:cNvSpPr txBox="1"/>
          <p:nvPr/>
        </p:nvSpPr>
        <p:spPr>
          <a:xfrm>
            <a:off x="1941681" y="1305346"/>
            <a:ext cx="2093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chemeClr val="bg1"/>
                </a:solidFill>
              </a:rPr>
              <a:t>Calidad y cantidad </a:t>
            </a:r>
          </a:p>
          <a:p>
            <a:pPr algn="ctr"/>
            <a:r>
              <a:rPr lang="es-419" sz="1600" dirty="0">
                <a:solidFill>
                  <a:schemeClr val="bg1"/>
                </a:solidFill>
              </a:rPr>
              <a:t>de cancelación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0F3650-8BA5-74B0-6E9E-FFEB1C32F379}"/>
              </a:ext>
            </a:extLst>
          </p:cNvPr>
          <p:cNvSpPr txBox="1"/>
          <p:nvPr/>
        </p:nvSpPr>
        <p:spPr>
          <a:xfrm>
            <a:off x="5049252" y="1401472"/>
            <a:ext cx="2287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chemeClr val="bg1"/>
                </a:solidFill>
              </a:rPr>
              <a:t>Complejidad del </a:t>
            </a:r>
          </a:p>
          <a:p>
            <a:pPr algn="ctr"/>
            <a:r>
              <a:rPr lang="es-419" sz="1600" dirty="0">
                <a:solidFill>
                  <a:schemeClr val="bg1"/>
                </a:solidFill>
              </a:rPr>
              <a:t>ruido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2E82EA-E06F-74C6-860D-6390FAD4B674}"/>
              </a:ext>
            </a:extLst>
          </p:cNvPr>
          <p:cNvSpPr txBox="1"/>
          <p:nvPr/>
        </p:nvSpPr>
        <p:spPr>
          <a:xfrm>
            <a:off x="3525252" y="3729323"/>
            <a:ext cx="2093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>
                <a:solidFill>
                  <a:schemeClr val="bg1"/>
                </a:solidFill>
              </a:rPr>
              <a:t>Retraso de filtrado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33E127-58E4-DB89-52BA-E209724C83DB}"/>
              </a:ext>
            </a:extLst>
          </p:cNvPr>
          <p:cNvSpPr txBox="1"/>
          <p:nvPr/>
        </p:nvSpPr>
        <p:spPr>
          <a:xfrm>
            <a:off x="3525252" y="1361104"/>
            <a:ext cx="2093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200" dirty="0">
                <a:solidFill>
                  <a:schemeClr val="bg1"/>
                </a:solidFill>
              </a:rPr>
              <a:t>Implementación</a:t>
            </a:r>
            <a:endParaRPr lang="es-419" sz="16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C9E14E-1A7A-18D1-C425-1FFEC229B20E}"/>
              </a:ext>
            </a:extLst>
          </p:cNvPr>
          <p:cNvSpPr txBox="1"/>
          <p:nvPr/>
        </p:nvSpPr>
        <p:spPr>
          <a:xfrm>
            <a:off x="4758824" y="2772316"/>
            <a:ext cx="1434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200" dirty="0">
                <a:solidFill>
                  <a:schemeClr val="bg1"/>
                </a:solidFill>
              </a:rPr>
              <a:t>Complejidad del equipo</a:t>
            </a:r>
            <a:endParaRPr lang="es-419" sz="16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11957C-3027-4149-10D6-1F1D0E1F6BB1}"/>
              </a:ext>
            </a:extLst>
          </p:cNvPr>
          <p:cNvSpPr txBox="1"/>
          <p:nvPr/>
        </p:nvSpPr>
        <p:spPr>
          <a:xfrm>
            <a:off x="2871037" y="2772316"/>
            <a:ext cx="1434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200" dirty="0">
                <a:solidFill>
                  <a:schemeClr val="bg1"/>
                </a:solidFill>
              </a:rPr>
              <a:t>Ubicación de micrófonos</a:t>
            </a:r>
            <a:endParaRPr lang="es-419" sz="1600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E37648-3F08-3A8F-81A5-48F903FFFBDF}"/>
              </a:ext>
            </a:extLst>
          </p:cNvPr>
          <p:cNvSpPr txBox="1"/>
          <p:nvPr/>
        </p:nvSpPr>
        <p:spPr>
          <a:xfrm>
            <a:off x="3858711" y="2270089"/>
            <a:ext cx="1434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000" dirty="0">
                <a:solidFill>
                  <a:schemeClr val="bg1"/>
                </a:solidFill>
              </a:rPr>
              <a:t>Miniaturización</a:t>
            </a:r>
            <a:endParaRPr lang="es-419" sz="1100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4134AA-E280-5EED-CD5C-827E3F70B8F7}"/>
              </a:ext>
            </a:extLst>
          </p:cNvPr>
          <p:cNvSpPr txBox="1"/>
          <p:nvPr/>
        </p:nvSpPr>
        <p:spPr>
          <a:xfrm>
            <a:off x="-101386" y="-22868"/>
            <a:ext cx="3502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>
                <a:solidFill>
                  <a:schemeClr val="bg1"/>
                </a:solidFill>
              </a:rPr>
              <a:t>Desafíos a trabajar</a:t>
            </a:r>
          </a:p>
        </p:txBody>
      </p:sp>
    </p:spTree>
    <p:extLst>
      <p:ext uri="{BB962C8B-B14F-4D97-AF65-F5344CB8AC3E}">
        <p14:creationId xmlns:p14="http://schemas.microsoft.com/office/powerpoint/2010/main" val="2994565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49" grpId="0"/>
      <p:bldP spid="50" grpId="0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A32FA4D-9709-390C-1A9B-EE0696B6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/>
              <a:t>Planificación </a:t>
            </a:r>
            <a:br>
              <a:rPr lang="es-AR" dirty="0"/>
            </a:br>
            <a:r>
              <a:rPr lang="es-AR" dirty="0"/>
              <a:t>Junio-Julio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F9D5A8E-8BEE-C7F5-F397-F104D52D6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972550"/>
            <a:ext cx="3984753" cy="505955"/>
          </a:xfrm>
        </p:spPr>
        <p:txBody>
          <a:bodyPr>
            <a:normAutofit/>
          </a:bodyPr>
          <a:lstStyle/>
          <a:p>
            <a:r>
              <a:rPr lang="es-AR" sz="1600" dirty="0"/>
              <a:t>Definir arquitectura y componentes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8D04AB-1131-35B3-4BB8-3554A8CD3201}"/>
              </a:ext>
            </a:extLst>
          </p:cNvPr>
          <p:cNvSpPr/>
          <p:nvPr/>
        </p:nvSpPr>
        <p:spPr>
          <a:xfrm>
            <a:off x="-1620838" y="5143499"/>
            <a:ext cx="3241675" cy="3241675"/>
          </a:xfrm>
          <a:prstGeom prst="ellipse">
            <a:avLst/>
          </a:prstGeom>
          <a:solidFill>
            <a:srgbClr val="81C7A5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DA642D-3519-3A92-3C76-B6CB8BE5CDD5}"/>
              </a:ext>
            </a:extLst>
          </p:cNvPr>
          <p:cNvSpPr/>
          <p:nvPr/>
        </p:nvSpPr>
        <p:spPr>
          <a:xfrm>
            <a:off x="7523162" y="5143500"/>
            <a:ext cx="3241675" cy="3241675"/>
          </a:xfrm>
          <a:prstGeom prst="ellipse">
            <a:avLst/>
          </a:prstGeom>
          <a:solidFill>
            <a:srgbClr val="82C7A5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B8980A-E08E-6E25-410F-CCE6337E2178}"/>
              </a:ext>
            </a:extLst>
          </p:cNvPr>
          <p:cNvSpPr/>
          <p:nvPr/>
        </p:nvSpPr>
        <p:spPr>
          <a:xfrm>
            <a:off x="2951162" y="-3241675"/>
            <a:ext cx="3241675" cy="3241675"/>
          </a:xfrm>
          <a:prstGeom prst="ellipse">
            <a:avLst/>
          </a:prstGeom>
          <a:solidFill>
            <a:srgbClr val="83C7A5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8" name="Imagen 5">
            <a:extLst>
              <a:ext uri="{FF2B5EF4-FFF2-40B4-BE49-F238E27FC236}">
                <a16:creationId xmlns:a16="http://schemas.microsoft.com/office/drawing/2014/main" id="{97786251-706D-BAA4-4918-6D9ECAE8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331" y="327981"/>
            <a:ext cx="1094011" cy="1098000"/>
          </a:xfrm>
          <a:prstGeom prst="rect">
            <a:avLst/>
          </a:prstGeom>
        </p:spPr>
      </p:pic>
      <p:pic>
        <p:nvPicPr>
          <p:cNvPr id="9" name="Imagen 6">
            <a:extLst>
              <a:ext uri="{FF2B5EF4-FFF2-40B4-BE49-F238E27FC236}">
                <a16:creationId xmlns:a16="http://schemas.microsoft.com/office/drawing/2014/main" id="{E4F3903A-6F67-BBDB-54A7-216CBF4BD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13" y="330917"/>
            <a:ext cx="1094008" cy="1098000"/>
          </a:xfrm>
          <a:prstGeom prst="rect">
            <a:avLst/>
          </a:prstGeom>
        </p:spPr>
      </p:pic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75839879-3459-7DB7-46F3-5DE1A4CC1BBE}"/>
              </a:ext>
            </a:extLst>
          </p:cNvPr>
          <p:cNvSpPr txBox="1">
            <a:spLocks/>
          </p:cNvSpPr>
          <p:nvPr/>
        </p:nvSpPr>
        <p:spPr>
          <a:xfrm>
            <a:off x="1297500" y="2516039"/>
            <a:ext cx="4658132" cy="50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s-AR" sz="1600" dirty="0"/>
              <a:t>Investigar métodos digitales de cancelación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303A5501-D5E4-0385-DF82-EA8966FC7548}"/>
              </a:ext>
            </a:extLst>
          </p:cNvPr>
          <p:cNvSpPr txBox="1">
            <a:spLocks/>
          </p:cNvSpPr>
          <p:nvPr/>
        </p:nvSpPr>
        <p:spPr>
          <a:xfrm>
            <a:off x="1297501" y="3059529"/>
            <a:ext cx="4658132" cy="50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s-AR" sz="1600" dirty="0"/>
              <a:t>Empezar con pruebas y prototipos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CD210F-12C3-A5BE-3F42-2B339B81D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052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8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A57E160-B5B2-0C77-C2AF-FCA7DD93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87000" cy="3521100"/>
          </a:xfrm>
        </p:spPr>
        <p:txBody>
          <a:bodyPr/>
          <a:lstStyle/>
          <a:p>
            <a:pPr algn="ctr"/>
            <a:r>
              <a:rPr lang="es-AR" dirty="0"/>
              <a:t>¡Gracias por escuchar!</a:t>
            </a:r>
          </a:p>
        </p:txBody>
      </p:sp>
      <p:pic>
        <p:nvPicPr>
          <p:cNvPr id="2" name="Imagen 5">
            <a:extLst>
              <a:ext uri="{FF2B5EF4-FFF2-40B4-BE49-F238E27FC236}">
                <a16:creationId xmlns:a16="http://schemas.microsoft.com/office/drawing/2014/main" id="{C1FD3576-70D8-240C-598B-B40B48CB7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21" y="3661914"/>
            <a:ext cx="1094011" cy="1098000"/>
          </a:xfrm>
          <a:prstGeom prst="rect">
            <a:avLst/>
          </a:prstGeom>
        </p:spPr>
      </p:pic>
      <p:pic>
        <p:nvPicPr>
          <p:cNvPr id="3" name="Imagen 6">
            <a:extLst>
              <a:ext uri="{FF2B5EF4-FFF2-40B4-BE49-F238E27FC236}">
                <a16:creationId xmlns:a16="http://schemas.microsoft.com/office/drawing/2014/main" id="{4E643C85-DE8F-E8A8-BDF9-C1F36D330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892" y="1814612"/>
            <a:ext cx="1094008" cy="1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37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133</Words>
  <Application>Microsoft Office PowerPoint</Application>
  <PresentationFormat>On-screen Show (16:9)</PresentationFormat>
  <Paragraphs>44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Montserrat</vt:lpstr>
      <vt:lpstr>Lato</vt:lpstr>
      <vt:lpstr>Focus</vt:lpstr>
      <vt:lpstr>Sistema de control </vt:lpstr>
      <vt:lpstr>PowerPoint Presentation</vt:lpstr>
      <vt:lpstr>PowerPoint Presentation</vt:lpstr>
      <vt:lpstr>PowerPoint Presentation</vt:lpstr>
      <vt:lpstr>Planificación  Junio-Julio</vt:lpstr>
      <vt:lpstr>¡Gracias por escuchar!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Usuario</cp:lastModifiedBy>
  <cp:revision>9</cp:revision>
  <cp:lastPrinted>2026-05-25T23:50:18Z</cp:lastPrinted>
  <dcterms:modified xsi:type="dcterms:W3CDTF">2026-05-27T15:48:55Z</dcterms:modified>
</cp:coreProperties>
</file>